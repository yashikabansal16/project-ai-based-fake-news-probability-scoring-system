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4630400" cy="8229600"/>
  <p:notesSz cx="8229600" cy="14630400"/>
  <p:embeddedFontLst>
    <p:embeddedFont>
      <p:font typeface="Inter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12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hika Arjariya" userId="aeb65caa2751f71b" providerId="LiveId" clId="{2D0463B4-495A-49DD-85DE-80218C35762F}"/>
    <pc:docChg chg="custSel addSld delSld modSld">
      <pc:chgData name="Anshika Arjariya" userId="aeb65caa2751f71b" providerId="LiveId" clId="{2D0463B4-495A-49DD-85DE-80218C35762F}" dt="2026-04-18T04:55:25.447" v="17" actId="2696"/>
      <pc:docMkLst>
        <pc:docMk/>
      </pc:docMkLst>
      <pc:sldChg chg="mod modClrScheme chgLayout">
        <pc:chgData name="Anshika Arjariya" userId="aeb65caa2751f71b" providerId="LiveId" clId="{2D0463B4-495A-49DD-85DE-80218C35762F}" dt="2026-04-18T04:53:53.388" v="1" actId="700"/>
        <pc:sldMkLst>
          <pc:docMk/>
          <pc:sldMk cId="0" sldId="256"/>
        </pc:sldMkLst>
      </pc:sldChg>
      <pc:sldChg chg="mod modClrScheme chgLayout">
        <pc:chgData name="Anshika Arjariya" userId="aeb65caa2751f71b" providerId="LiveId" clId="{2D0463B4-495A-49DD-85DE-80218C35762F}" dt="2026-04-18T04:53:56.894" v="2" actId="700"/>
        <pc:sldMkLst>
          <pc:docMk/>
          <pc:sldMk cId="0" sldId="257"/>
        </pc:sldMkLst>
      </pc:sldChg>
      <pc:sldChg chg="mod modClrScheme chgLayout">
        <pc:chgData name="Anshika Arjariya" userId="aeb65caa2751f71b" providerId="LiveId" clId="{2D0463B4-495A-49DD-85DE-80218C35762F}" dt="2026-04-18T04:54:00.983" v="3" actId="700"/>
        <pc:sldMkLst>
          <pc:docMk/>
          <pc:sldMk cId="0" sldId="258"/>
        </pc:sldMkLst>
      </pc:sldChg>
      <pc:sldChg chg="mod modClrScheme chgLayout">
        <pc:chgData name="Anshika Arjariya" userId="aeb65caa2751f71b" providerId="LiveId" clId="{2D0463B4-495A-49DD-85DE-80218C35762F}" dt="2026-04-18T04:54:05.741" v="4" actId="700"/>
        <pc:sldMkLst>
          <pc:docMk/>
          <pc:sldMk cId="0" sldId="259"/>
        </pc:sldMkLst>
      </pc:sldChg>
      <pc:sldChg chg="mod modClrScheme chgLayout">
        <pc:chgData name="Anshika Arjariya" userId="aeb65caa2751f71b" providerId="LiveId" clId="{2D0463B4-495A-49DD-85DE-80218C35762F}" dt="2026-04-18T04:54:16.746" v="6" actId="700"/>
        <pc:sldMkLst>
          <pc:docMk/>
          <pc:sldMk cId="0" sldId="260"/>
        </pc:sldMkLst>
      </pc:sldChg>
      <pc:sldChg chg="mod modClrScheme chgLayout">
        <pc:chgData name="Anshika Arjariya" userId="aeb65caa2751f71b" providerId="LiveId" clId="{2D0463B4-495A-49DD-85DE-80218C35762F}" dt="2026-04-18T04:54:20.552" v="7" actId="700"/>
        <pc:sldMkLst>
          <pc:docMk/>
          <pc:sldMk cId="0" sldId="261"/>
        </pc:sldMkLst>
      </pc:sldChg>
      <pc:sldChg chg="mod modClrScheme chgLayout">
        <pc:chgData name="Anshika Arjariya" userId="aeb65caa2751f71b" providerId="LiveId" clId="{2D0463B4-495A-49DD-85DE-80218C35762F}" dt="2026-04-18T04:54:23.465" v="8" actId="700"/>
        <pc:sldMkLst>
          <pc:docMk/>
          <pc:sldMk cId="0" sldId="262"/>
        </pc:sldMkLst>
      </pc:sldChg>
      <pc:sldChg chg="mod modClrScheme chgLayout">
        <pc:chgData name="Anshika Arjariya" userId="aeb65caa2751f71b" providerId="LiveId" clId="{2D0463B4-495A-49DD-85DE-80218C35762F}" dt="2026-04-18T04:54:26.585" v="9" actId="700"/>
        <pc:sldMkLst>
          <pc:docMk/>
          <pc:sldMk cId="0" sldId="263"/>
        </pc:sldMkLst>
      </pc:sldChg>
      <pc:sldChg chg="mod modClrScheme chgLayout">
        <pc:chgData name="Anshika Arjariya" userId="aeb65caa2751f71b" providerId="LiveId" clId="{2D0463B4-495A-49DD-85DE-80218C35762F}" dt="2026-04-18T04:54:29.676" v="10" actId="700"/>
        <pc:sldMkLst>
          <pc:docMk/>
          <pc:sldMk cId="0" sldId="264"/>
        </pc:sldMkLst>
      </pc:sldChg>
      <pc:sldChg chg="mod modClrScheme chgLayout">
        <pc:chgData name="Anshika Arjariya" userId="aeb65caa2751f71b" providerId="LiveId" clId="{2D0463B4-495A-49DD-85DE-80218C35762F}" dt="2026-04-18T04:54:33.520" v="11" actId="700"/>
        <pc:sldMkLst>
          <pc:docMk/>
          <pc:sldMk cId="0" sldId="265"/>
        </pc:sldMkLst>
      </pc:sldChg>
      <pc:sldChg chg="mod modClrScheme chgLayout">
        <pc:chgData name="Anshika Arjariya" userId="aeb65caa2751f71b" providerId="LiveId" clId="{2D0463B4-495A-49DD-85DE-80218C35762F}" dt="2026-04-18T04:54:43.995" v="12" actId="700"/>
        <pc:sldMkLst>
          <pc:docMk/>
          <pc:sldMk cId="0" sldId="266"/>
        </pc:sldMkLst>
      </pc:sldChg>
      <pc:sldChg chg="mod modClrScheme chgLayout">
        <pc:chgData name="Anshika Arjariya" userId="aeb65caa2751f71b" providerId="LiveId" clId="{2D0463B4-495A-49DD-85DE-80218C35762F}" dt="2026-04-18T04:54:46.981" v="13" actId="700"/>
        <pc:sldMkLst>
          <pc:docMk/>
          <pc:sldMk cId="0" sldId="267"/>
        </pc:sldMkLst>
      </pc:sldChg>
      <pc:sldChg chg="mod modClrScheme chgLayout">
        <pc:chgData name="Anshika Arjariya" userId="aeb65caa2751f71b" providerId="LiveId" clId="{2D0463B4-495A-49DD-85DE-80218C35762F}" dt="2026-04-18T04:54:50.144" v="14" actId="700"/>
        <pc:sldMkLst>
          <pc:docMk/>
          <pc:sldMk cId="0" sldId="268"/>
        </pc:sldMkLst>
      </pc:sldChg>
      <pc:sldChg chg="mod modClrScheme chgLayout">
        <pc:chgData name="Anshika Arjariya" userId="aeb65caa2751f71b" providerId="LiveId" clId="{2D0463B4-495A-49DD-85DE-80218C35762F}" dt="2026-04-18T04:54:53.389" v="15" actId="700"/>
        <pc:sldMkLst>
          <pc:docMk/>
          <pc:sldMk cId="0" sldId="269"/>
        </pc:sldMkLst>
      </pc:sldChg>
      <pc:sldChg chg="mod modClrScheme chgLayout">
        <pc:chgData name="Anshika Arjariya" userId="aeb65caa2751f71b" providerId="LiveId" clId="{2D0463B4-495A-49DD-85DE-80218C35762F}" dt="2026-04-18T04:53:40.379" v="0" actId="700"/>
        <pc:sldMkLst>
          <pc:docMk/>
          <pc:sldMk cId="0" sldId="270"/>
        </pc:sldMkLst>
      </pc:sldChg>
      <pc:sldChg chg="new del">
        <pc:chgData name="Anshika Arjariya" userId="aeb65caa2751f71b" providerId="LiveId" clId="{2D0463B4-495A-49DD-85DE-80218C35762F}" dt="2026-04-18T04:55:25.447" v="17" actId="2696"/>
        <pc:sldMkLst>
          <pc:docMk/>
          <pc:sldMk cId="953957186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9398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svg"/><Relationship Id="rId5" Type="http://schemas.openxmlformats.org/officeDocument/2006/relationships/image" Target="../media/image18.svg"/><Relationship Id="rId4" Type="http://schemas.openxmlformats.org/officeDocument/2006/relationships/image" Target="../media/image16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20910"/>
            <a:ext cx="7556421" cy="142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📰 AI-Driven Fake News Detection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28625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Machine Learning Approach using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Naive Bayes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MongoDB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274826"/>
            <a:ext cx="2147054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416278" y="5342811"/>
            <a:ext cx="187487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PROTOTYPE SYSTEM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540591" y="5267206"/>
            <a:ext cx="2273498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50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684300" y="5342811"/>
            <a:ext cx="198608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NLP · CLASSIFICATION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1460" y="529233"/>
            <a:ext cx="4430197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Abstract</a:t>
            </a:r>
            <a:endParaRPr lang="en-US" sz="3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460" y="1446371"/>
            <a:ext cx="7796451" cy="46778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37727" y="3154204"/>
            <a:ext cx="3998595" cy="1262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delivers a </a:t>
            </a: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desktop application</a:t>
            </a: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classifies news articles as </a:t>
            </a: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"Real"</a:t>
            </a: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</a:t>
            </a: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"Fake"</a:t>
            </a: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using a probabilistic </a:t>
            </a: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Multinomial Naive Bayes</a:t>
            </a: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model — trained from scratch without relying on black-box libraries.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1201460" y="6435685"/>
            <a:ext cx="3983474" cy="1264682"/>
          </a:xfrm>
          <a:prstGeom prst="roundRect">
            <a:avLst>
              <a:gd name="adj" fmla="val 8676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1178600" y="6435685"/>
            <a:ext cx="91440" cy="1264682"/>
          </a:xfrm>
          <a:prstGeom prst="roundRect">
            <a:avLst>
              <a:gd name="adj" fmla="val 81395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470065" y="6635710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GUI Layer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470065" y="6995517"/>
            <a:ext cx="3514844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Tkinter-based interface for real-time user input and results display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323284" y="6435685"/>
            <a:ext cx="3983593" cy="1264682"/>
          </a:xfrm>
          <a:prstGeom prst="roundRect">
            <a:avLst>
              <a:gd name="adj" fmla="val 8676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300424" y="6435685"/>
            <a:ext cx="91440" cy="1264682"/>
          </a:xfrm>
          <a:prstGeom prst="roundRect">
            <a:avLst>
              <a:gd name="adj" fmla="val 81395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591889" y="6635710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ML Engine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591889" y="6995517"/>
            <a:ext cx="351496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Word-frequency probability calculations with Laplace smoothing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9445228" y="6435685"/>
            <a:ext cx="3983474" cy="1264682"/>
          </a:xfrm>
          <a:prstGeom prst="roundRect">
            <a:avLst>
              <a:gd name="adj" fmla="val 8676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9422368" y="6435685"/>
            <a:ext cx="91440" cy="1264682"/>
          </a:xfrm>
          <a:prstGeom prst="roundRect">
            <a:avLst>
              <a:gd name="adj" fmla="val 81395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9713833" y="6635710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Layer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713833" y="6995517"/>
            <a:ext cx="3514844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MongoDB NoSQL database for persistent prediction history tracking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9025" y="679133"/>
            <a:ext cx="7605951" cy="137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Introduction: The Misinformation Crisis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769025" y="2371606"/>
            <a:ext cx="3696533" cy="3002161"/>
          </a:xfrm>
          <a:prstGeom prst="roundRect">
            <a:avLst>
              <a:gd name="adj" fmla="val 307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996315" y="2598896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996315" y="3069788"/>
            <a:ext cx="3241953" cy="207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False news spreads </a:t>
            </a: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6× faster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than true stories on social platforms. Manual fact-checking cannot keep pace with the volume of content generated daily.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678323" y="2371606"/>
            <a:ext cx="3696653" cy="3002161"/>
          </a:xfrm>
          <a:prstGeom prst="roundRect">
            <a:avLst>
              <a:gd name="adj" fmla="val 307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905613" y="2598896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Gap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4905613" y="3069788"/>
            <a:ext cx="3242072" cy="207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AI tools are either too slow, too opaque, or require cloud infrastructure — leaving everyday users without accessible, transparent detection tools.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69025" y="5586532"/>
            <a:ext cx="7605951" cy="1963817"/>
          </a:xfrm>
          <a:prstGeom prst="roundRect">
            <a:avLst>
              <a:gd name="adj" fmla="val 470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996315" y="5813822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Our Objective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996315" y="6284714"/>
            <a:ext cx="7151370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</a:t>
            </a: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lightweight, local-hosted classifier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calculates word-frequency probabilities to identify linguistic bias — with full transparency into every decision.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758" y="753785"/>
            <a:ext cx="9310926" cy="65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Statement &amp; System Design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31758" y="1889046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Problem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731758" y="2408396"/>
            <a:ext cx="6328410" cy="96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fact-checking is </a:t>
            </a: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 and unscalable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Standard black-box AI models provide predictions without explainability — users cannot understand </a:t>
            </a:r>
            <a:r>
              <a:rPr lang="en-US" sz="16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 article was flagged.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758" y="3589258"/>
            <a:ext cx="6328410" cy="1165741"/>
          </a:xfrm>
          <a:prstGeom prst="roundRect">
            <a:avLst>
              <a:gd name="adj" fmla="val 7534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832" y="3903821"/>
            <a:ext cx="261342" cy="2090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1248" y="3834289"/>
            <a:ext cx="5439847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Lack of transparency erodes user trust in automated classification systems.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77852" y="1889046"/>
            <a:ext cx="2721293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Modular Architecture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7577852" y="2432447"/>
            <a:ext cx="418148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577852" y="2764988"/>
            <a:ext cx="6328410" cy="2286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577852" y="2915245"/>
            <a:ext cx="2788682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Preprocessing Engine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7577852" y="3434596"/>
            <a:ext cx="6328410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Tokenizes, cleans, and normalizes raw text input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577852" y="4105513"/>
            <a:ext cx="418148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577852" y="4438055"/>
            <a:ext cx="6328410" cy="2286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7577852" y="4588312"/>
            <a:ext cx="2846665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Naive Bayes Classifier</a:t>
            </a:r>
            <a:endParaRPr lang="en-US" sz="2050" dirty="0"/>
          </a:p>
        </p:txBody>
      </p:sp>
      <p:sp>
        <p:nvSpPr>
          <p:cNvPr id="16" name="Text 13"/>
          <p:cNvSpPr/>
          <p:nvPr/>
        </p:nvSpPr>
        <p:spPr>
          <a:xfrm>
            <a:off x="7577852" y="5107662"/>
            <a:ext cx="6328410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Computes class probabilities from word-frequency dictionaries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577852" y="5778579"/>
            <a:ext cx="418148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577852" y="6111121"/>
            <a:ext cx="6328410" cy="2286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7577852" y="6261378"/>
            <a:ext cx="3043833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 Storage Layer</a:t>
            </a:r>
            <a:endParaRPr lang="en-US" sz="2050" dirty="0"/>
          </a:p>
        </p:txBody>
      </p:sp>
      <p:sp>
        <p:nvSpPr>
          <p:cNvPr id="20" name="Text 17"/>
          <p:cNvSpPr/>
          <p:nvPr/>
        </p:nvSpPr>
        <p:spPr>
          <a:xfrm>
            <a:off x="7577852" y="6780728"/>
            <a:ext cx="6328410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Persists every prediction to MongoDB for audit and analytics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760928"/>
            <a:ext cx="5404842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Objectives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56642" y="1848683"/>
            <a:ext cx="1311711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core development goals are centered around building a robust, transparent, and user-friendly fake news detection system.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6642" y="2418278"/>
            <a:ext cx="540425" cy="5404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599" y="2418278"/>
            <a:ext cx="3402687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 Accuracy Classification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554599" y="3217426"/>
            <a:ext cx="3402687" cy="168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a </a:t>
            </a: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Naive Bayes classification algorithm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using log-probabilities to achieve high accuracy in distinguishing real from fake news.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4818" y="2418278"/>
            <a:ext cx="540425" cy="5404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12775" y="2418278"/>
            <a:ext cx="301799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Intuitive User Interface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6012775" y="2879646"/>
            <a:ext cx="3402687" cy="1351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an intuitive </a:t>
            </a: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Tkinter GUI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provide real-time user interaction and facilitate immediate news article analysis.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2995" y="2418278"/>
            <a:ext cx="540425" cy="5404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470952" y="2418278"/>
            <a:ext cx="311455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Persistent Data Storage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10470952" y="2879646"/>
            <a:ext cx="3402687" cy="1351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a </a:t>
            </a: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MongoDB database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efficient storage and retrieval of all prediction history, enabling auditing and future analysis.</a:t>
            </a:r>
            <a:endParaRPr lang="en-US" sz="1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6642" y="5318403"/>
            <a:ext cx="540425" cy="5404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54599" y="5318403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Visualized Trends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1554599" y="5779770"/>
            <a:ext cx="3402687" cy="1351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Visualize </a:t>
            </a: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 trends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system performance metrics using Matplotlib-generated bar charts for clear insights.</a:t>
            </a:r>
            <a:endParaRPr lang="en-US" sz="17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14818" y="5318403"/>
            <a:ext cx="540425" cy="54042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012775" y="5318403"/>
            <a:ext cx="310943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Robust Text Processing</a:t>
            </a:r>
            <a:endParaRPr lang="en-US" sz="2100" dirty="0"/>
          </a:p>
        </p:txBody>
      </p:sp>
      <p:sp>
        <p:nvSpPr>
          <p:cNvPr id="18" name="Text 11"/>
          <p:cNvSpPr/>
          <p:nvPr/>
        </p:nvSpPr>
        <p:spPr>
          <a:xfrm>
            <a:off x="6012775" y="5779770"/>
            <a:ext cx="3402687" cy="168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 a </a:t>
            </a: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 text-cleaning pipeline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encompassing tokenization, normalization, and stop-word removal to effectively process raw news data.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3703"/>
            <a:ext cx="1158537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Methodology: The Math Behind the Model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294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Bayes' Theorem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91060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classifier estimates the posterior probability of a class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given observed words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923467"/>
            <a:ext cx="6244709" cy="729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923467"/>
            <a:ext cx="6244709" cy="7296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3790" y="494014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"naive"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assumption: all word features are conditionally independent given the class.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599521" y="2329458"/>
            <a:ext cx="33257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Engineering Safeguards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7599521" y="2938939"/>
            <a:ext cx="3008948" cy="3981807"/>
          </a:xfrm>
          <a:prstGeom prst="roundRect">
            <a:avLst>
              <a:gd name="adj" fmla="val 4862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7569041" y="2938939"/>
            <a:ext cx="121920" cy="3981807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948255" y="3196233"/>
            <a:ext cx="2402919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Laplace Smoothing (Add-1)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948255" y="4486037"/>
            <a:ext cx="240291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Prevents zero probabilities for unseen words by adding 1 to every word count in the vocabulary.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10835283" y="2938939"/>
            <a:ext cx="3008948" cy="3981807"/>
          </a:xfrm>
          <a:prstGeom prst="roundRect">
            <a:avLst>
              <a:gd name="adj" fmla="val 4862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10804803" y="2938939"/>
            <a:ext cx="121920" cy="3981807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11184017" y="3196233"/>
            <a:ext cx="24029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Log-Probabilities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1184017" y="3777377"/>
            <a:ext cx="240291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Replaces multiplication of small probabilities with addition of log values, eliminating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arithmetic underflow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4628" y="548640"/>
            <a:ext cx="4695944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Flowchart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628" y="1543764"/>
            <a:ext cx="6653927" cy="59621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4328" y="1508760"/>
            <a:ext cx="5848826" cy="82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end-to-end pipeline runs entirely offline — from dataset ingestion through preprocessing, classification, and persistent storage — with results rendered in the Tkinter GUI in real time.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8291" y="539591"/>
            <a:ext cx="4998482" cy="52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Algorithm: Step-by-Step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291" y="1304687"/>
            <a:ext cx="9578102" cy="63853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3441"/>
            <a:ext cx="71180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Tools &amp; Technology Stack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025848"/>
            <a:ext cx="13042821" cy="53401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842605"/>
            <a:ext cx="5316260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Results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44260" y="1905714"/>
            <a:ext cx="13141881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system successfully meets all project objectives, delivering a robust, transparent, and user-friendly fake news detection solution.</a:t>
            </a:r>
            <a:endParaRPr lang="en-US" sz="1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4260" y="2789039"/>
            <a:ext cx="744260" cy="7442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717" y="2789039"/>
            <a:ext cx="302895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Accurate Classification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1737717" y="3240881"/>
            <a:ext cx="3220998" cy="1647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Naive Bayes model accurately classifies news as 'FAKE' or 'REAL', providing clear confidence percentages for each.</a:t>
            </a:r>
            <a:endParaRPr lang="en-US" sz="16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913" y="2789039"/>
            <a:ext cx="744260" cy="7442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01370" y="2789039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Persistence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6201370" y="3240881"/>
            <a:ext cx="3220998" cy="131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MongoDB ensures reliable logging and retrieval of all historical analysis data for audit and future insights.</a:t>
            </a:r>
            <a:endParaRPr lang="en-US" sz="16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1566" y="2789039"/>
            <a:ext cx="744260" cy="7442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665023" y="2789039"/>
            <a:ext cx="314075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Interactive Visualization</a:t>
            </a:r>
            <a:endParaRPr lang="en-US" sz="2050" dirty="0"/>
          </a:p>
        </p:txBody>
      </p:sp>
      <p:sp>
        <p:nvSpPr>
          <p:cNvPr id="12" name="Text 7"/>
          <p:cNvSpPr/>
          <p:nvPr/>
        </p:nvSpPr>
        <p:spPr>
          <a:xfrm>
            <a:off x="10665023" y="3240881"/>
            <a:ext cx="3220998" cy="1647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dynamic Matplotlib module provides real-time visualization of prediction trends, offering immediate performance insights.</a:t>
            </a:r>
            <a:endParaRPr lang="en-US" sz="16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4260" y="5287328"/>
            <a:ext cx="744260" cy="7442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737717" y="5287328"/>
            <a:ext cx="3030736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Efficient Preprocessing</a:t>
            </a:r>
            <a:endParaRPr lang="en-US" sz="2050" dirty="0"/>
          </a:p>
        </p:txBody>
      </p:sp>
      <p:sp>
        <p:nvSpPr>
          <p:cNvPr id="15" name="Text 9"/>
          <p:cNvSpPr/>
          <p:nvPr/>
        </p:nvSpPr>
        <p:spPr>
          <a:xfrm>
            <a:off x="1737717" y="5739170"/>
            <a:ext cx="3220998" cy="1647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regex-based pipeline effectively cleans and normalizes raw text, enhancing the accuracy of the classification model.</a:t>
            </a:r>
            <a:endParaRPr lang="en-US" sz="16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07913" y="5287328"/>
            <a:ext cx="744260" cy="7442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201370" y="5287328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Full-Scale UI</a:t>
            </a:r>
            <a:endParaRPr lang="en-US" sz="2050" dirty="0"/>
          </a:p>
        </p:txBody>
      </p:sp>
      <p:sp>
        <p:nvSpPr>
          <p:cNvPr id="18" name="Text 11"/>
          <p:cNvSpPr/>
          <p:nvPr/>
        </p:nvSpPr>
        <p:spPr>
          <a:xfrm>
            <a:off x="6201370" y="5739170"/>
            <a:ext cx="3220998" cy="131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high-resolution Tkinter dashboard offers a responsive, intuitive interface with a modern dark-mode aesthetic.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841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Results &amp; Analysis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14168"/>
            <a:ext cx="39674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Tkinter Application Interface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495312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desktop GUI presents a clean input field for news text, a classify button, and a real-time result panel displaying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Fake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confidence scores.\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839170"/>
            <a:ext cx="6216729" cy="34968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99521" y="1914168"/>
            <a:ext cx="47845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Prediction Distribution (Matplotlib)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599521" y="2495312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embedded bar chart visualizes the cumulative count of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vs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Fake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classifications stored in MongoDB across sessions.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9521" y="3839170"/>
            <a:ext cx="4855726" cy="348984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0210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Results &amp; Analysis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77860"/>
            <a:ext cx="48937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Stored Data Output (Console View) 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459004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displayed console output shows sample news classifications, where each input headline is labeled as Real or Fake based on the trained model.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521" y="2906197"/>
            <a:ext cx="5469017" cy="34660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1863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Outcomes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8103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Success Metrics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3199090"/>
            <a:ext cx="793790" cy="7937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71067" y="3199090"/>
            <a:ext cx="32830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Mathematical Accuracy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871067" y="3689509"/>
            <a:ext cx="530232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Successfully utilized Log-Probability and Laplace Smoothing to ensure the model remains stable even with large text inputs.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3199090"/>
            <a:ext cx="793790" cy="7937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34162" y="31990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 Reliability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8534162" y="3689509"/>
            <a:ext cx="530244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Demonstrated seamless CRUD operations with MongoDB, allowing for a searchable history of analyzed news.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5231844"/>
            <a:ext cx="793790" cy="79379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871067" y="5231844"/>
            <a:ext cx="30481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Robust Preprocessing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871067" y="5722263"/>
            <a:ext cx="530232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Developed a regex cleaning pipeline that standardizes raw data for better prediction consistency.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5231844"/>
            <a:ext cx="793790" cy="79379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534162" y="52318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Scalability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8534162" y="5722263"/>
            <a:ext cx="530244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architecture allows for expanding the dataset without rewriting the core algorithm, making it future-proof.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679371"/>
            <a:ext cx="7212806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 &amp; Future Scope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69025" y="1897975"/>
            <a:ext cx="2947987" cy="350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✅ What We Achieved</a:t>
            </a:r>
            <a:endParaRPr lang="en-US" sz="2150" dirty="0"/>
          </a:p>
        </p:txBody>
      </p:sp>
      <p:sp>
        <p:nvSpPr>
          <p:cNvPr id="4" name="Shape 2"/>
          <p:cNvSpPr/>
          <p:nvPr/>
        </p:nvSpPr>
        <p:spPr>
          <a:xfrm>
            <a:off x="769025" y="2488287"/>
            <a:ext cx="3032641" cy="2738318"/>
          </a:xfrm>
          <a:prstGeom prst="roundRect">
            <a:avLst>
              <a:gd name="adj" fmla="val 33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96315" y="2715578"/>
            <a:ext cx="2578060" cy="686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Functional Classifier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996315" y="3614857"/>
            <a:ext cx="2578060" cy="1384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operational local-hosted news classifier with transparent probability outputs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014430" y="2488287"/>
            <a:ext cx="3032760" cy="2738318"/>
          </a:xfrm>
          <a:prstGeom prst="roundRect">
            <a:avLst>
              <a:gd name="adj" fmla="val 33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241721" y="2715578"/>
            <a:ext cx="2578179" cy="686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Zero Division Errors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4241721" y="3614857"/>
            <a:ext cx="2578179" cy="1384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Log-normalization and Laplace smoothing eliminate all arithmetic edge cases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69025" y="5439370"/>
            <a:ext cx="6278166" cy="1702832"/>
          </a:xfrm>
          <a:prstGeom prst="roundRect">
            <a:avLst>
              <a:gd name="adj" fmla="val 542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96315" y="5666661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Persistent Analytics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996315" y="6222683"/>
            <a:ext cx="5823585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MongoDB layer enables longitudinal tracking of prediction patterns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590830" y="1897975"/>
            <a:ext cx="2746653" cy="350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🔭 Roadmap Ahead</a:t>
            </a:r>
            <a:endParaRPr lang="en-US" sz="2150" dirty="0"/>
          </a:p>
        </p:txBody>
      </p:sp>
      <p:sp>
        <p:nvSpPr>
          <p:cNvPr id="14" name="Shape 12"/>
          <p:cNvSpPr/>
          <p:nvPr/>
        </p:nvSpPr>
        <p:spPr>
          <a:xfrm>
            <a:off x="7590830" y="2488287"/>
            <a:ext cx="494348" cy="494348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673221" y="2529483"/>
            <a:ext cx="329565" cy="411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8297942" y="2563773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N-gram Features</a:t>
            </a:r>
            <a:endParaRPr lang="en-US" sz="2150" dirty="0"/>
          </a:p>
        </p:txBody>
      </p:sp>
      <p:sp>
        <p:nvSpPr>
          <p:cNvPr id="17" name="Text 15"/>
          <p:cNvSpPr/>
          <p:nvPr/>
        </p:nvSpPr>
        <p:spPr>
          <a:xfrm>
            <a:off x="8297942" y="3119795"/>
            <a:ext cx="5571053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Bi-grams and tri-grams to capture phrase-level context beyond single words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590830" y="4237673"/>
            <a:ext cx="494348" cy="494348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673221" y="4278868"/>
            <a:ext cx="329565" cy="411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8297942" y="4313158"/>
            <a:ext cx="3016448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Live Web Scraping API</a:t>
            </a:r>
            <a:endParaRPr lang="en-US" sz="2150" dirty="0"/>
          </a:p>
        </p:txBody>
      </p:sp>
      <p:sp>
        <p:nvSpPr>
          <p:cNvPr id="21" name="Text 19"/>
          <p:cNvSpPr/>
          <p:nvPr/>
        </p:nvSpPr>
        <p:spPr>
          <a:xfrm>
            <a:off x="8297942" y="4869180"/>
            <a:ext cx="5571053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real-time news link ingestion for on-the-fly classification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590830" y="5987058"/>
            <a:ext cx="494348" cy="494348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673221" y="6028253"/>
            <a:ext cx="329565" cy="411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8297942" y="6062543"/>
            <a:ext cx="3164562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Deep Learning Upgrade</a:t>
            </a:r>
            <a:endParaRPr lang="en-US" sz="2150" dirty="0"/>
          </a:p>
        </p:txBody>
      </p:sp>
      <p:sp>
        <p:nvSpPr>
          <p:cNvPr id="25" name="Text 23"/>
          <p:cNvSpPr/>
          <p:nvPr/>
        </p:nvSpPr>
        <p:spPr>
          <a:xfrm>
            <a:off x="8297942" y="6618565"/>
            <a:ext cx="5571053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or augment with LSTM/BERT models for state-of-the-art accuracy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7927"/>
            <a:ext cx="607837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References &amp; Sources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70334"/>
            <a:ext cx="4196358" cy="2456617"/>
          </a:xfrm>
          <a:prstGeom prst="roundRect">
            <a:avLst>
              <a:gd name="adj" fmla="val 3878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51084" y="29276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3418046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Sourced from Kaggle (Fake and Real News Dataset) and curated repositories on GitHub to ensure a balanced variety of news articles.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670334"/>
            <a:ext cx="4196358" cy="2456617"/>
          </a:xfrm>
          <a:prstGeom prst="roundRect">
            <a:avLst>
              <a:gd name="adj" fmla="val 3878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74256" y="2927628"/>
            <a:ext cx="32070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Logic &amp; Documentation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74256" y="3418046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Algorithmic structure and technical documentation assisted by ChatGPT for optimized Python implementation.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670334"/>
            <a:ext cx="4196358" cy="2456617"/>
          </a:xfrm>
          <a:prstGeom prst="roundRect">
            <a:avLst>
              <a:gd name="adj" fmla="val 3878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897427" y="29276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Libraries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97427" y="3418046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the use of Pandas for data manipulation, Matplotlib for visualization, and PyMongo for database connectivity.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353764"/>
            <a:ext cx="13042702" cy="1367909"/>
          </a:xfrm>
          <a:prstGeom prst="roundRect">
            <a:avLst>
              <a:gd name="adj" fmla="val 6964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51084" y="56110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084" y="6101477"/>
            <a:ext cx="1252811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Powered by MongoDB for local NoSQL data management and storage.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970</Words>
  <Application>Microsoft Office PowerPoint</Application>
  <PresentationFormat>Custom</PresentationFormat>
  <Paragraphs>130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Inter</vt:lpstr>
      <vt:lpstr>Inter Light</vt:lpstr>
      <vt:lpstr>Inter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Anshika Arjariya</cp:lastModifiedBy>
  <cp:revision>1</cp:revision>
  <dcterms:created xsi:type="dcterms:W3CDTF">2026-04-18T04:51:24Z</dcterms:created>
  <dcterms:modified xsi:type="dcterms:W3CDTF">2026-04-18T04:55:28Z</dcterms:modified>
</cp:coreProperties>
</file>